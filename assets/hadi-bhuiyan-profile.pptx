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4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1463040"/>
            <a:ext cx="5669280" cy="5669280"/>
          </a:xfrm>
          <a:prstGeom prst="ellipse">
            <a:avLst/>
          </a:prstGeom>
          <a:solidFill>
            <a:srgbClr val="2E5C3F"/>
          </a:solidFill>
          <a:ln w="12700">
            <a:solidFill>
              <a:srgbClr val="2E5C3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931920"/>
            <a:ext cx="3291840" cy="3291840"/>
          </a:xfrm>
          <a:prstGeom prst="ellipse">
            <a:avLst/>
          </a:prstGeom>
          <a:solidFill>
            <a:srgbClr val="C94F2F">
              <a:alpha val="85000"/>
            </a:srgbClr>
          </a:solidFill>
          <a:ln w="12700">
            <a:solidFill>
              <a:srgbClr val="C94F2F">
                <a:alpha val="85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3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8288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Hadi Bhuiyan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0632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CE6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&amp; SaaS Builder · Digital/AI Product Manager · Volunteer · ‘Retired’ Trekker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9776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B9CB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of CommEngine, EasyDO.ai &amp; FutureMind AI · Consultant (CPO) at BuildCon &amp; BuildNation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30352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bhuiyan.hadi@gmail.com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+880 18 33180420  ·  mahadib.futuremind.ltd  ·  bd.linkedin.com/in/mahadib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decades of building digital products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Dhaka-based Digital, AI, Enterprise &amp; SaaS leader — from telecom core networks to AI workspaces and corporate AI transformation.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2560320" cy="2377440"/>
          </a:xfrm>
          <a:prstGeom prst="rect">
            <a:avLst/>
          </a:prstGeom>
          <a:solidFill>
            <a:srgbClr val="F3E3DC"/>
          </a:solidFill>
          <a:ln w="12700">
            <a:solidFill>
              <a:srgbClr val="F3E3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83464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C9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19+</a:t>
            </a:r>
            <a:endParaRPr lang="en-US" sz="4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0690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Experience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383280" y="2560320"/>
            <a:ext cx="2560320" cy="2377440"/>
          </a:xfrm>
          <a:prstGeom prst="rect">
            <a:avLst/>
          </a:prstGeom>
          <a:solidFill>
            <a:srgbClr val="E6ECE6"/>
          </a:solidFill>
          <a:ln w="12700">
            <a:solidFill>
              <a:srgbClr val="E6EC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57600" y="283464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E5C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120+</a:t>
            </a:r>
            <a:endParaRPr lang="en-US" sz="42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40690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Brands Served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217920" y="2560320"/>
            <a:ext cx="2560320" cy="2377440"/>
          </a:xfrm>
          <a:prstGeom prst="rect">
            <a:avLst/>
          </a:prstGeom>
          <a:solidFill>
            <a:srgbClr val="F3E3DC"/>
          </a:solidFill>
          <a:ln w="12700">
            <a:solidFill>
              <a:srgbClr val="F3E3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92240" y="283464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C9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20M+</a:t>
            </a:r>
            <a:endParaRPr lang="en-US" sz="42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40690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Profiled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052560" y="2560320"/>
            <a:ext cx="2560320" cy="2377440"/>
          </a:xfrm>
          <a:prstGeom prst="rect">
            <a:avLst/>
          </a:prstGeom>
          <a:solidFill>
            <a:srgbClr val="E6ECE6"/>
          </a:solidFill>
          <a:ln w="12700">
            <a:solidFill>
              <a:srgbClr val="E6EC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326880" y="283464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2E5C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90M</a:t>
            </a:r>
            <a:endParaRPr lang="en-US" sz="42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40690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Subscribers Managed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Organizations: BuildNation · CommEngine · Robi Axiata · Nokia Siemens Networks · Huawei · Premier University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Hadi Bhuiyan · mahadib.futuremind.ltd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VENTURES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NOW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2103120"/>
          </a:xfrm>
          <a:prstGeom prst="rect">
            <a:avLst/>
          </a:prstGeom>
          <a:solidFill>
            <a:srgbClr val="E6ECE6"/>
          </a:solidFill>
          <a:ln w="12700">
            <a:solidFill>
              <a:srgbClr val="E6E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57400"/>
            <a:ext cx="731520" cy="731520"/>
          </a:xfrm>
          <a:prstGeom prst="ellipse">
            <a:avLst/>
          </a:prstGeom>
          <a:solidFill>
            <a:srgbClr val="2E5C3F"/>
          </a:solidFill>
          <a:ln w="12700">
            <a:solidFill>
              <a:srgbClr val="2E5C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20116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EasyFlow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783080" y="251460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AI-Guided Audience Engagement platform — manage thousands live or async, with 1:1 AI coaching &amp; assessments.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783080" y="33832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E5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flow.easydo.ai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5352" y="1737360"/>
            <a:ext cx="5394960" cy="2103120"/>
          </a:xfrm>
          <a:prstGeom prst="rect">
            <a:avLst/>
          </a:prstGeom>
          <a:solidFill>
            <a:srgbClr val="E6ECE6"/>
          </a:solidFill>
          <a:ln w="12700">
            <a:solidFill>
              <a:srgbClr val="E6E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19672" y="2057400"/>
            <a:ext cx="731520" cy="731520"/>
          </a:xfrm>
          <a:prstGeom prst="ellipse">
            <a:avLst/>
          </a:prstGeom>
          <a:solidFill>
            <a:srgbClr val="C94F2F"/>
          </a:solidFill>
          <a:ln w="12700">
            <a:solidFill>
              <a:srgbClr val="C94F2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19672" y="2057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7479792" y="20116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Inference | EasyDO WorkSpace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479792" y="251460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Multi-LLM Local Inference and Cascaded AI Inference with No-Code Application Launcher, Enterprise WorkSpace.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479792" y="33832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E5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easydo.ai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114800"/>
            <a:ext cx="5394960" cy="2103120"/>
          </a:xfrm>
          <a:prstGeom prst="rect">
            <a:avLst/>
          </a:prstGeom>
          <a:solidFill>
            <a:srgbClr val="E6ECE6"/>
          </a:solidFill>
          <a:ln w="12700">
            <a:solidFill>
              <a:srgbClr val="E6EC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434840"/>
            <a:ext cx="731520" cy="731520"/>
          </a:xfrm>
          <a:prstGeom prst="ellipse">
            <a:avLst/>
          </a:prstGeom>
          <a:solidFill>
            <a:srgbClr val="2E5C3F"/>
          </a:solidFill>
          <a:ln w="12700">
            <a:solidFill>
              <a:srgbClr val="2E5C3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434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783080" y="43891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AI-Accelerator Program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783080" y="489204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corporate AI transformation at strategy, execution and people level through workshops and custom solutions.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783080" y="5760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E5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buildnation.com.bd/aipa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45352" y="4114800"/>
            <a:ext cx="5394960" cy="2103120"/>
          </a:xfrm>
          <a:prstGeom prst="rect">
            <a:avLst/>
          </a:prstGeom>
          <a:solidFill>
            <a:srgbClr val="E6ECE6"/>
          </a:solidFill>
          <a:ln w="12700">
            <a:solidFill>
              <a:srgbClr val="E6EC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19672" y="4434840"/>
            <a:ext cx="731520" cy="731520"/>
          </a:xfrm>
          <a:prstGeom prst="ellipse">
            <a:avLst/>
          </a:prstGeom>
          <a:solidFill>
            <a:srgbClr val="C94F2F"/>
          </a:solidFill>
          <a:ln w="12700">
            <a:solidFill>
              <a:srgbClr val="C94F2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19672" y="4434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79792" y="438912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CommEngine v2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479792" y="489204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Next-gen SocialCRM with deeper AI profiling &amp; automation.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479792" y="5760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E5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commengine.xyz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Hadi Bhuiyan · mahadib.futuremind.ltd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· 20 YEARS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Career Timeline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338943" y="2971800"/>
            <a:ext cx="9483634" cy="0"/>
          </a:xfrm>
          <a:prstGeom prst="line">
            <a:avLst/>
          </a:prstGeom>
          <a:noFill/>
          <a:ln w="25400">
            <a:solidFill>
              <a:srgbClr val="D5DD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92639" y="2825496"/>
            <a:ext cx="292608" cy="29260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E5C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2103120"/>
            <a:ext cx="15806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5C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2006–07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383280"/>
            <a:ext cx="148916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University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4069080"/>
            <a:ext cx="143430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Lecturer, CSE &amp; Business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73245" y="2825496"/>
            <a:ext cx="292608" cy="29260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E5C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29246" y="2103120"/>
            <a:ext cx="15806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5C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2006–08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174966" y="3383280"/>
            <a:ext cx="148916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Huawei Technologies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202398" y="4069080"/>
            <a:ext cx="143430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BSS Engineer · Billing · Mediation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53850" y="2825496"/>
            <a:ext cx="292608" cy="29260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E5C3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709851" y="2103120"/>
            <a:ext cx="15806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5C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2008–13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755571" y="3383280"/>
            <a:ext cx="148916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Nokia Siemens Networks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783003" y="4069080"/>
            <a:ext cx="143430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&amp; PM Specialist · 90M subscribers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34456" y="2825496"/>
            <a:ext cx="292608" cy="29260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E5C3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90457" y="2103120"/>
            <a:ext cx="15806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5C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2013–21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336177" y="3383280"/>
            <a:ext cx="148916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Robi Axiata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363609" y="4069080"/>
            <a:ext cx="143430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&amp; Digital Unit Lead · IoT · MFS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515062" y="2825496"/>
            <a:ext cx="292608" cy="292608"/>
          </a:xfrm>
          <a:prstGeom prst="ellipse">
            <a:avLst/>
          </a:prstGeom>
          <a:solidFill>
            <a:srgbClr val="C94F2F"/>
          </a:solidFill>
          <a:ln w="31750">
            <a:solidFill>
              <a:srgbClr val="C94F2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71063" y="2103120"/>
            <a:ext cx="15806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2018–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916783" y="3383280"/>
            <a:ext cx="148916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CommEngine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944215" y="4069080"/>
            <a:ext cx="143430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 &amp; CPO · SocialCRM · 120+ brands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095667" y="2825496"/>
            <a:ext cx="292608" cy="292608"/>
          </a:xfrm>
          <a:prstGeom prst="ellipse">
            <a:avLst/>
          </a:prstGeom>
          <a:solidFill>
            <a:srgbClr val="C94F2F"/>
          </a:solidFill>
          <a:ln w="31750">
            <a:solidFill>
              <a:srgbClr val="C94F2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51669" y="2103120"/>
            <a:ext cx="15806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2022–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497389" y="3383280"/>
            <a:ext cx="148916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BuildCon &amp; BuildNation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524821" y="4069080"/>
            <a:ext cx="143430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Consultant (CPO) · AI-PA · Digital Transformation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0676273" y="2825496"/>
            <a:ext cx="292608" cy="292608"/>
          </a:xfrm>
          <a:prstGeom prst="ellipse">
            <a:avLst/>
          </a:prstGeom>
          <a:solidFill>
            <a:srgbClr val="C94F2F"/>
          </a:solidFill>
          <a:ln w="31750">
            <a:solidFill>
              <a:srgbClr val="C94F2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032274" y="2103120"/>
            <a:ext cx="15806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2024–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10077994" y="3383280"/>
            <a:ext cx="148916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FutureMind AI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105426" y="4069080"/>
            <a:ext cx="143430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EasyFlow · EasyDo · AI Workspace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5669280"/>
            <a:ext cx="182880" cy="182880"/>
          </a:xfrm>
          <a:prstGeom prst="ellipse">
            <a:avLst/>
          </a:prstGeom>
          <a:solidFill>
            <a:srgbClr val="C94F2F"/>
          </a:solidFill>
          <a:ln w="12700">
            <a:solidFill>
              <a:srgbClr val="C94F2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2960" y="55961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roles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377440" y="5669280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5C3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651760" y="55961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roles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Hadi Bhuiyan · mahadib.futuremind.ltd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· 2018 – PRESENT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Leading AI &amp; SaaS ventures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85800" cy="685800"/>
          </a:xfrm>
          <a:prstGeom prst="ellipse">
            <a:avLst/>
          </a:prstGeom>
          <a:solidFill>
            <a:srgbClr val="2E5C3F"/>
          </a:solidFill>
          <a:ln w="12700">
            <a:solidFill>
              <a:srgbClr val="2E5C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916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BuildCon &amp; BuildNation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130552"/>
            <a:ext cx="39319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Consultant (CPO Capacity)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 2022 – Present · Dhaka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169164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AI Proficiency Accelerator across 9 organizations — 240+ executives trained, 100+ AI automations delivered.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for data center &amp; AI tokenization, digital banking and SLA/KPI management platforms.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EdFinTech / B2B LMS platform onboarding TAFE Australia, ACCA, CIMA and AI-PA programs.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977640"/>
            <a:ext cx="685800" cy="685800"/>
          </a:xfrm>
          <a:prstGeom prst="ellipse">
            <a:avLst/>
          </a:prstGeom>
          <a:solidFill>
            <a:srgbClr val="C94F2F"/>
          </a:solidFill>
          <a:ln w="12700">
            <a:solidFill>
              <a:srgbClr val="C94F2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9776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9319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CommEngine Limited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4370832"/>
            <a:ext cx="39319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2018 – Present · Dhaka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577840" y="393192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Secured seed funding from Robi Axiata; launched enterprise B2B SaaS serving 120+ brands.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Business, Strategy, Product &amp; Technology teams; profiled 20M+ customers.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Co-founded EasyDO.ai and FutureMind AI — Private AI-Workspace, Application Launchpad &amp; AI-Consulting.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Hadi Bhuiyan · mahadib.futuremind.ltd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· 2006 – 2021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Telecom &amp; technology foundations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85800" cy="685800"/>
          </a:xfrm>
          <a:prstGeom prst="ellipse">
            <a:avLst/>
          </a:prstGeom>
          <a:solidFill>
            <a:srgbClr val="2E5C3F"/>
          </a:solidFill>
          <a:ln w="12700">
            <a:solidFill>
              <a:srgbClr val="2E5C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916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Robi Axiata Limited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130552"/>
            <a:ext cx="393192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&amp; Digital Service Unit Lead · 2013 – 2021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1691640"/>
            <a:ext cx="6035040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product lifecycle for Digital Services, Innovation, IoT &amp; VAS.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Redesigned SMS ecosystem for 40M subscribers — $3M YRR; onboarded 2000+ services in SDP merger.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30880"/>
            <a:ext cx="685800" cy="685800"/>
          </a:xfrm>
          <a:prstGeom prst="ellipse">
            <a:avLst/>
          </a:prstGeom>
          <a:solidFill>
            <a:srgbClr val="C94F2F"/>
          </a:solidFill>
          <a:ln w="12700">
            <a:solidFill>
              <a:srgbClr val="C94F2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2308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1851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Nokia Siemens Networks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624072"/>
            <a:ext cx="393192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&amp; Project Management Lead · 2008 – 2013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577840" y="3185160"/>
            <a:ext cx="6035040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Banglalink IN09–IN14 handling 90M subscribers.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migration of 60M subscribers across four IN nodes for Vodafone India.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724400"/>
            <a:ext cx="685800" cy="685800"/>
          </a:xfrm>
          <a:prstGeom prst="ellipse">
            <a:avLst/>
          </a:prstGeom>
          <a:solidFill>
            <a:srgbClr val="2E5C3F"/>
          </a:solidFill>
          <a:ln w="12700">
            <a:solidFill>
              <a:srgbClr val="2E5C3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724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6786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Huawei Technologies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5117592"/>
            <a:ext cx="3931920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BSS Engineer · 2006 – 2008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4678680"/>
            <a:ext cx="6035040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Commissioned Postpaid Billing, Mediation, PRM &amp; International Roaming; BTTB→Teletalk charging for 20M subscribers.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Hadi Bhuiyan · mahadib.futuremind.ltd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Awards, Contributions &amp; Recognition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51760" cy="2103120"/>
          </a:xfrm>
          <a:prstGeom prst="rect">
            <a:avLst/>
          </a:prstGeom>
          <a:solidFill>
            <a:srgbClr val="F3E3DC"/>
          </a:solidFill>
          <a:ln w="12700">
            <a:solidFill>
              <a:srgbClr val="F3E3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74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945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BASIS National ICT Award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900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CommEngine — SocialCRM platform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429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3280" y="1691640"/>
            <a:ext cx="2651760" cy="2103120"/>
          </a:xfrm>
          <a:prstGeom prst="rect">
            <a:avLst/>
          </a:prstGeom>
          <a:solidFill>
            <a:srgbClr val="F3E3DC"/>
          </a:solidFill>
          <a:ln w="12700">
            <a:solidFill>
              <a:srgbClr val="F3E3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11880" y="1874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21945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 Digital Innovation Award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9900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Zachai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611880" y="3429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691640"/>
            <a:ext cx="2651760" cy="2103120"/>
          </a:xfrm>
          <a:prstGeom prst="rect">
            <a:avLst/>
          </a:prstGeom>
          <a:solidFill>
            <a:srgbClr val="F3E3DC"/>
          </a:solidFill>
          <a:ln w="12700">
            <a:solidFill>
              <a:srgbClr val="F3E3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1874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21945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Covid-19 Solution Award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9900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Swachho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3429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560" y="1691640"/>
            <a:ext cx="2651760" cy="2103120"/>
          </a:xfrm>
          <a:prstGeom prst="rect">
            <a:avLst/>
          </a:prstGeom>
          <a:solidFill>
            <a:srgbClr val="E6ECE6"/>
          </a:solidFill>
          <a:ln w="12700">
            <a:solidFill>
              <a:srgbClr val="E6ECE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81160" y="1874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5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FELLOWSHIP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281160" y="21945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Microsoft for Startups Founders Hub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281160" y="299008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Panelist at the Bangladesh launch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281160" y="34290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069080"/>
            <a:ext cx="2651760" cy="2103120"/>
          </a:xfrm>
          <a:prstGeom prst="rect">
            <a:avLst/>
          </a:prstGeom>
          <a:solidFill>
            <a:srgbClr val="E6ECE6"/>
          </a:solidFill>
          <a:ln w="12700">
            <a:solidFill>
              <a:srgbClr val="E6ECE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4251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5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77240" y="4572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National Blockchain Policy Forum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53675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contributor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383280" y="4069080"/>
            <a:ext cx="2651760" cy="2103120"/>
          </a:xfrm>
          <a:prstGeom prst="rect">
            <a:avLst/>
          </a:prstGeom>
          <a:solidFill>
            <a:srgbClr val="E6ECE6"/>
          </a:solidFill>
          <a:ln w="12700">
            <a:solidFill>
              <a:srgbClr val="E6ECE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11880" y="4251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5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611880" y="4572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BSTI Consumer Protection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3611880" y="53675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system contributor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217920" y="4069080"/>
            <a:ext cx="2651760" cy="2103120"/>
          </a:xfrm>
          <a:prstGeom prst="rect">
            <a:avLst/>
          </a:prstGeom>
          <a:solidFill>
            <a:srgbClr val="E6ECE6"/>
          </a:solidFill>
          <a:ln w="12700">
            <a:solidFill>
              <a:srgbClr val="E6ECE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46520" y="4251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5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446520" y="4572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IEEE Publications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446520" y="53675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ICCIT-2005, ICNEWS-2006, ICCIT-2010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9052560" y="4069080"/>
            <a:ext cx="2651760" cy="2103120"/>
          </a:xfrm>
          <a:prstGeom prst="rect">
            <a:avLst/>
          </a:prstGeom>
          <a:solidFill>
            <a:srgbClr val="E6ECE6"/>
          </a:solidFill>
          <a:ln w="12700">
            <a:solidFill>
              <a:srgbClr val="E6ECE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81160" y="4251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E5C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281160" y="4572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C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ICT4D Conference Reviewer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9281160" y="53675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Independent, 2010–2016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Hadi Bhuiyan · mahadib.futuremind.ltd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A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&amp; Certifications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5C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Skills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48840"/>
            <a:ext cx="23317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Transformation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Management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Solutions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CRM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 Building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063240" y="1691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5C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2148840"/>
            <a:ext cx="23317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Ideation &amp; Design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 Strategy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 &amp; Product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Design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RFP/RFI &amp; Tech Procurement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&amp; Budgeting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1691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5C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577840" y="2148840"/>
            <a:ext cx="23317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Telco Charging &amp; VAS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&amp; IoT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Networks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AI-Workspace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AI-Avatar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Launchpad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C2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RetailTech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83880" y="1691640"/>
            <a:ext cx="3474720" cy="4434840"/>
          </a:xfrm>
          <a:prstGeom prst="rect">
            <a:avLst/>
          </a:prstGeom>
          <a:solidFill>
            <a:srgbClr val="244A33"/>
          </a:solidFill>
          <a:ln w="12700">
            <a:solidFill>
              <a:srgbClr val="244A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58200" y="1874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Certifications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458200" y="2377440"/>
            <a:ext cx="3017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PMP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B9CB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PMI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ITIL v4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B9CB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AXELOS / PeopleCert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BABOK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B9CB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IIBA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CxO Conclave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B9CB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IBA–DU, 2024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NSN TAC II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B9CB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Nokia Siemens Networks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ServADM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B9CB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Telecom Systems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Founders Fellow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B9CB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Microsoft for Startups, 2022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Hadi Bhuiyan · mahadib.futuremind.ltd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44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2E5C3F"/>
          </a:solidFill>
          <a:ln w="12700">
            <a:solidFill>
              <a:srgbClr val="2E5C3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11887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build together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94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E6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Partnerships, AI transformation programs, consulting &amp; research.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33832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3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37033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bhuiyan.hadi@gmail.com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0" y="33832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3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0" y="37033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+880 18 33180420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4572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3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48920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bd.linkedin.com/in/mahadib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0" y="4572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3B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48920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mahadib.futuremind.ltd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5943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9CB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Dhaka, Bangladesh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Hadi Bhuiyan — Digital · AI · SaaS</dc:title>
  <dc:subject>PptxGenJS Presentation</dc:subject>
  <dc:creator>Hadi Bhuiyan</dc:creator>
  <cp:lastModifiedBy>Hadi Bhuiyan</cp:lastModifiedBy>
  <cp:revision>1</cp:revision>
  <dcterms:created xsi:type="dcterms:W3CDTF">2026-09-24T13:24:26Z</dcterms:created>
  <dcterms:modified xsi:type="dcterms:W3CDTF">2026-09-24T13:24:26Z</dcterms:modified>
</cp:coreProperties>
</file>