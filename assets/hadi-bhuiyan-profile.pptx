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5669280" cy="5669280"/>
          </a:xfrm>
          <a:prstGeom prst="ellipse">
            <a:avLst/>
          </a:prstGeom>
          <a:solidFill>
            <a:srgbClr val="2E5C3F"/>
          </a:solidFill>
          <a:ln w="12700">
            <a:solidFill>
              <a:srgbClr val="2E5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C94F2F">
              <a:alpha val="85000"/>
            </a:srgbClr>
          </a:solidFill>
          <a:ln w="12700">
            <a:solidFill>
              <a:srgbClr val="C94F2F">
                <a:alpha val="8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Hadi Bhuiyan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SaaS Builder · Digital/AI Product Manager · Volunteer · ‘Retired’ Trekker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of CommEngine, EasyDO.ai &amp; FutureMind AI · Consultant (CPO) at BuildCon &amp; BuildNation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035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bhuiyan.hadi@gmail.com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+880 18 33180420  ·  mahadib.futuremind.ltd  ·  bd.linkedin.com/in/mahadib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decades of building digital products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Dhaka-based Digital, AI, Enterprise &amp; SaaS leader — from telecom core networks to AI workspaces and corporate AI transformation.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560320" cy="2377440"/>
          </a:xfrm>
          <a:prstGeom prst="rect">
            <a:avLst/>
          </a:prstGeom>
          <a:solidFill>
            <a:srgbClr val="F3E3DC"/>
          </a:solidFill>
          <a:ln w="12700">
            <a:solidFill>
              <a:srgbClr val="F3E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19+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2560320"/>
            <a:ext cx="2560320" cy="237744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Served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2560320" cy="2377440"/>
          </a:xfrm>
          <a:prstGeom prst="rect">
            <a:avLst/>
          </a:prstGeom>
          <a:solidFill>
            <a:srgbClr val="F3E3DC"/>
          </a:solidFill>
          <a:ln w="12700">
            <a:solidFill>
              <a:srgbClr val="F3E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20M+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Profiled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52560" y="2560320"/>
            <a:ext cx="2560320" cy="237744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90M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Managed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Organizations: BuildNation · CommEngine · Robi Axiata · Nokia Siemens Networks · Huawei · Premier University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Bhuiyan · mahadib.futuremind.ltd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VENTURES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NOW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2E5C3F"/>
          </a:solidFill>
          <a:ln w="12700">
            <a:solidFill>
              <a:srgbClr val="2E5C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EasyFlow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Audience Engagement platform — manage thousands live or async, with 1:1 AI coaching &amp; assessments.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flow.easydo.ai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737360"/>
            <a:ext cx="53949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2057400"/>
            <a:ext cx="731520" cy="731520"/>
          </a:xfrm>
          <a:prstGeom prst="ellipse">
            <a:avLst/>
          </a:prstGeom>
          <a:solidFill>
            <a:srgbClr val="C94F2F"/>
          </a:solidFill>
          <a:ln w="12700">
            <a:solidFill>
              <a:srgbClr val="C94F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79792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Inference | EasyDO WorkSpace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79792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Local Inference and Cascaded AI Inference with No-Code Application Launcher, Enterprise WorkSpace.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easydo.ai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34840"/>
            <a:ext cx="731520" cy="731520"/>
          </a:xfrm>
          <a:prstGeom prst="ellipse">
            <a:avLst/>
          </a:prstGeom>
          <a:solidFill>
            <a:srgbClr val="2E5C3F"/>
          </a:solidFill>
          <a:ln w="12700">
            <a:solidFill>
              <a:srgbClr val="2E5C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AI-Accelerator Program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892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corporate AI transformation at strategy, execution and people level through workshops and custom solutions.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5760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buildnation.com.bd/aipa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5352" y="4114800"/>
            <a:ext cx="53949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4434840"/>
            <a:ext cx="731520" cy="731520"/>
          </a:xfrm>
          <a:prstGeom prst="ellipse">
            <a:avLst/>
          </a:prstGeom>
          <a:solidFill>
            <a:srgbClr val="C94F2F"/>
          </a:solidFill>
          <a:ln w="12700">
            <a:solidFill>
              <a:srgbClr val="C94F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CommEngine v2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4892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SocialCRM with deeper AI profiling &amp; automation.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5760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commengine.xyz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Bhuiyan · mahadib.futuremind.ltd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· 20 YEARS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Timeline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38943" y="2971800"/>
            <a:ext cx="9483634" cy="0"/>
          </a:xfrm>
          <a:prstGeom prst="line">
            <a:avLst/>
          </a:prstGeom>
          <a:noFill/>
          <a:ln w="25400">
            <a:solidFill>
              <a:srgbClr val="D5DD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2639" y="2825496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E5C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1580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2006–07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38328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University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069080"/>
            <a:ext cx="1434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CSE &amp; Business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3245" y="2825496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E5C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9246" y="2103120"/>
            <a:ext cx="1580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2006–08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74966" y="338328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Technologies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02398" y="4069080"/>
            <a:ext cx="1434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Engineer · Billing · Mediation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3850" y="2825496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E5C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9851" y="2103120"/>
            <a:ext cx="1580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2008–13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755571" y="338328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Siemens Networks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83003" y="4069080"/>
            <a:ext cx="1434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&amp; PM Specialist · 90M subscribers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34456" y="2825496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E5C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90457" y="2103120"/>
            <a:ext cx="1580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2013–21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36177" y="338328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 Axiata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63609" y="4069080"/>
            <a:ext cx="1434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Digital Unit Lead · IoT · MFS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15062" y="2825496"/>
            <a:ext cx="292608" cy="292608"/>
          </a:xfrm>
          <a:prstGeom prst="ellipse">
            <a:avLst/>
          </a:prstGeom>
          <a:solidFill>
            <a:srgbClr val="C94F2F"/>
          </a:solidFill>
          <a:ln w="31750">
            <a:solidFill>
              <a:srgbClr val="C94F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71063" y="2103120"/>
            <a:ext cx="1580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16783" y="338328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CommEngine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4215" y="4069080"/>
            <a:ext cx="1434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CPO · SocialCRM · 120+ brands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5667" y="2825496"/>
            <a:ext cx="292608" cy="292608"/>
          </a:xfrm>
          <a:prstGeom prst="ellipse">
            <a:avLst/>
          </a:prstGeom>
          <a:solidFill>
            <a:srgbClr val="C94F2F"/>
          </a:solidFill>
          <a:ln w="31750">
            <a:solidFill>
              <a:srgbClr val="C94F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1669" y="2103120"/>
            <a:ext cx="1580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497389" y="338328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 &amp; BuildNation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24821" y="4069080"/>
            <a:ext cx="1434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(CPO) · AI-PA · Digital Transformation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676273" y="2825496"/>
            <a:ext cx="292608" cy="292608"/>
          </a:xfrm>
          <a:prstGeom prst="ellipse">
            <a:avLst/>
          </a:prstGeom>
          <a:solidFill>
            <a:srgbClr val="C94F2F"/>
          </a:solidFill>
          <a:ln w="31750">
            <a:solidFill>
              <a:srgbClr val="C94F2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32274" y="2103120"/>
            <a:ext cx="1580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2024–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077994" y="338328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FutureMind AI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05426" y="4069080"/>
            <a:ext cx="14343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EasyFlow · EasyDo · AI Workspace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82880" cy="182880"/>
          </a:xfrm>
          <a:prstGeom prst="ellipse">
            <a:avLst/>
          </a:prstGeom>
          <a:solidFill>
            <a:srgbClr val="C94F2F"/>
          </a:solidFill>
          <a:ln w="12700">
            <a:solidFill>
              <a:srgbClr val="C94F2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596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377440" y="56692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5C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51760" y="5596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roles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Bhuiyan · mahadib.futuremind.ltd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2018 – PRESENT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AI &amp; SaaS ventures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2E5C3F"/>
          </a:solidFill>
          <a:ln w="12700">
            <a:solidFill>
              <a:srgbClr val="2E5C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BuildCon &amp; BuildNation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30552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(CPO Capacity)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2022 – Present · Dhaka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916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AI Proficiency Accelerator across 9 organizations — 240+ executives trained, 100+ AI automations delivered.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for data center &amp; AI tokenization, digital banking and SLA/KPI management platforms.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EdFinTech / B2B LMS platform onboarding TAFE Australia, ACCA, CIMA and AI-PA programs.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685800" cy="685800"/>
          </a:xfrm>
          <a:prstGeom prst="ellipse">
            <a:avLst/>
          </a:prstGeom>
          <a:solidFill>
            <a:srgbClr val="C94F2F"/>
          </a:solidFill>
          <a:ln w="12700">
            <a:solidFill>
              <a:srgbClr val="C94F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CommEngine Limited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370832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2018 – Present · Dhaka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seed funding from Robi Axiata; launched enterprise B2B SaaS serving 120+ brands.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Business, Strategy, Product &amp; Technology teams; profiled 20M+ customers.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EasyDO.ai and FutureMind AI — Private AI-Workspace, Application Launchpad &amp; AI-Consulting.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Bhuiyan · mahadib.futuremind.ltd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2006 – 2021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&amp; technology foundations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2E5C3F"/>
          </a:solidFill>
          <a:ln w="12700">
            <a:solidFill>
              <a:srgbClr val="2E5C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Robi Axiata Limited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30552"/>
            <a:ext cx="3931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Digital Service Unit Lead · 2013 – 2021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91640"/>
            <a:ext cx="6035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product lifecycle for Digital Services, Innovation, IoT &amp; VAS.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SMS ecosystem for 40M subscribers — $3M YRR; onboarded 2000+ services in SDP merger.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30880"/>
            <a:ext cx="685800" cy="685800"/>
          </a:xfrm>
          <a:prstGeom prst="ellipse">
            <a:avLst/>
          </a:prstGeom>
          <a:solidFill>
            <a:srgbClr val="C94F2F"/>
          </a:solidFill>
          <a:ln w="12700">
            <a:solidFill>
              <a:srgbClr val="C94F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30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85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Nokia Siemens Networks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24072"/>
            <a:ext cx="3931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&amp; Project Management Lead · 2008 – 2013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185160"/>
            <a:ext cx="6035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Banglalink IN09–IN14 handling 90M subscribers.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migration of 60M subscribers across four IN nodes for Vodafone India.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24400"/>
            <a:ext cx="685800" cy="685800"/>
          </a:xfrm>
          <a:prstGeom prst="ellipse">
            <a:avLst/>
          </a:prstGeom>
          <a:solidFill>
            <a:srgbClr val="2E5C3F"/>
          </a:solidFill>
          <a:ln w="12700">
            <a:solidFill>
              <a:srgbClr val="2E5C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72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67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Huawei Technologies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17592"/>
            <a:ext cx="3931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Engineer · 2006 – 2008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678680"/>
            <a:ext cx="6035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Postpaid Billing, Mediation, PRM &amp; International Roaming; BTTB→Teletalk charging for 20M subscribers.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Bhuiyan · mahadib.futuremind.ltd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Awards, Contributions &amp; Recognition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103120"/>
          </a:xfrm>
          <a:prstGeom prst="rect">
            <a:avLst/>
          </a:prstGeom>
          <a:solidFill>
            <a:srgbClr val="F3E3DC"/>
          </a:solidFill>
          <a:ln w="12700">
            <a:solidFill>
              <a:srgbClr val="F3E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National ICT Award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CommEngine — SocialCRM platform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51760" cy="2103120"/>
          </a:xfrm>
          <a:prstGeom prst="rect">
            <a:avLst/>
          </a:prstGeom>
          <a:solidFill>
            <a:srgbClr val="F3E3DC"/>
          </a:solidFill>
          <a:ln w="12700">
            <a:solidFill>
              <a:srgbClr val="F3E3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Digital Innovation Award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51760" cy="2103120"/>
          </a:xfrm>
          <a:prstGeom prst="rect">
            <a:avLst/>
          </a:prstGeom>
          <a:solidFill>
            <a:srgbClr val="F3E3DC"/>
          </a:solidFill>
          <a:ln w="12700">
            <a:solidFill>
              <a:srgbClr val="F3E3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Solution Award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Swachho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517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for Startups Founders Hub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Panelist at the Bangladesh launch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26517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Blockchain Policy Forum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67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contributor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4069080"/>
            <a:ext cx="26517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1188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BSTI Consumer Protection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611880" y="5367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 contributor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069080"/>
            <a:ext cx="26517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Publications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5367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ICCIT-2005, ICNEWS-2006, ICCIT-2010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052560" y="4069080"/>
            <a:ext cx="2651760" cy="2103120"/>
          </a:xfrm>
          <a:prstGeom prst="rect">
            <a:avLst/>
          </a:prstGeom>
          <a:solidFill>
            <a:srgbClr val="E6ECE6"/>
          </a:solidFill>
          <a:ln w="12700">
            <a:solidFill>
              <a:srgbClr val="E6EC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811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ICT4D Conference Reviewer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5367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2010–2016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Bhuiyan · mahadib.futuremind.ltd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Certifications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Skills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331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Solutions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Building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148840"/>
            <a:ext cx="2331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&amp; Design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&amp; Product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RFP/RFI &amp; Tech Procurement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Budgeting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148840"/>
            <a:ext cx="2331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Charging &amp; VAS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IoT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Networks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AI-Workspace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AI-Avatar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Launchpad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RetailTech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1691640"/>
            <a:ext cx="3474720" cy="4434840"/>
          </a:xfrm>
          <a:prstGeom prst="rect">
            <a:avLst/>
          </a:prstGeom>
          <a:solidFill>
            <a:srgbClr val="244A33"/>
          </a:solidFill>
          <a:ln w="12700">
            <a:solidFill>
              <a:srgbClr val="244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37744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Trained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PMI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 v4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AXELOS / PeopleCert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BABOK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IIBA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Conclave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IBA–DU, 2024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NSN TAC II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Nokia Siemens Networks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ServADM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Telecom Systems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Fellow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Microsoft for Startups, 2022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Bhuiyan · mahadib.futuremind.ltd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E5C3F"/>
          </a:solidFill>
          <a:ln w="12700">
            <a:solidFill>
              <a:srgbClr val="2E5C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together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 AI transformation programs, consulting &amp; research.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bhuiyan.hadi@gmail.com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+880 18 33180420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892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bd.linkedin.com/in/mahadib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892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mahadib.futuremind.ltd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Dhaka, Bangladesh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Hadi Bhuiyan — Digital · AI · SaaS</dc:title>
  <dc:subject>PptxGenJS Presentation</dc:subject>
  <dc:creator>Hadi Bhuiyan</dc:creator>
  <cp:lastModifiedBy>Hadi Bhuiyan</cp:lastModifiedBy>
  <cp:revision>1</cp:revision>
  <dcterms:created xsi:type="dcterms:W3CDTF">2026-09-24T13:24:26Z</dcterms:created>
  <dcterms:modified xsi:type="dcterms:W3CDTF">2026-09-24T13:24:26Z</dcterms:modified>
</cp:coreProperties>
</file>